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DM Sans" panose="020F0502020204030204" pitchFamily="2" charset="0"/>
      <p:regular r:id="rId10"/>
      <p:bold r:id="rId11"/>
      <p:italic r:id="rId12"/>
      <p:boldItalic r:id="rId13"/>
    </p:embeddedFont>
    <p:embeddedFont>
      <p:font typeface="DM Sans Italics" panose="020B0604020202020204" charset="0"/>
      <p:regular r:id="rId14"/>
    </p:embeddedFont>
    <p:embeddedFont>
      <p:font typeface="Poppins" panose="020B0502040204020203" pitchFamily="2" charset="0"/>
      <p:regular r:id="rId15"/>
      <p:bold r:id="rId16"/>
      <p:italic r:id="rId17"/>
      <p:boldItalic r:id="rId18"/>
    </p:embeddedFont>
    <p:embeddedFont>
      <p:font typeface="Poppins Bold" panose="00000800000000000000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DD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16439" y="-2056061"/>
            <a:ext cx="11771561" cy="11771561"/>
          </a:xfrm>
          <a:custGeom>
            <a:avLst/>
            <a:gdLst/>
            <a:ahLst/>
            <a:cxnLst/>
            <a:rect l="l" t="t" r="r" b="b"/>
            <a:pathLst>
              <a:path w="11771561" h="11771561">
                <a:moveTo>
                  <a:pt x="0" y="0"/>
                </a:moveTo>
                <a:lnTo>
                  <a:pt x="11771561" y="0"/>
                </a:lnTo>
                <a:lnTo>
                  <a:pt x="11771561" y="11771561"/>
                </a:lnTo>
                <a:lnTo>
                  <a:pt x="0" y="1177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34389" flipH="1">
            <a:off x="-3231346" y="7382495"/>
            <a:ext cx="8682119" cy="6772053"/>
          </a:xfrm>
          <a:custGeom>
            <a:avLst/>
            <a:gdLst/>
            <a:ahLst/>
            <a:cxnLst/>
            <a:rect l="l" t="t" r="r" b="b"/>
            <a:pathLst>
              <a:path w="8682119" h="6772053">
                <a:moveTo>
                  <a:pt x="8682119" y="0"/>
                </a:moveTo>
                <a:lnTo>
                  <a:pt x="0" y="0"/>
                </a:lnTo>
                <a:lnTo>
                  <a:pt x="0" y="6772053"/>
                </a:lnTo>
                <a:lnTo>
                  <a:pt x="8682119" y="6772053"/>
                </a:lnTo>
                <a:lnTo>
                  <a:pt x="868211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71500" y="2640644"/>
            <a:ext cx="17208326" cy="7074856"/>
            <a:chOff x="0" y="0"/>
            <a:chExt cx="3646313" cy="14991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46313" cy="1499108"/>
            </a:xfrm>
            <a:custGeom>
              <a:avLst/>
              <a:gdLst/>
              <a:ahLst/>
              <a:cxnLst/>
              <a:rect l="l" t="t" r="r" b="b"/>
              <a:pathLst>
                <a:path w="3646313" h="1499108">
                  <a:moveTo>
                    <a:pt x="6748" y="0"/>
                  </a:moveTo>
                  <a:lnTo>
                    <a:pt x="3639564" y="0"/>
                  </a:lnTo>
                  <a:cubicBezTo>
                    <a:pt x="3643291" y="0"/>
                    <a:pt x="3646313" y="3021"/>
                    <a:pt x="3646313" y="6748"/>
                  </a:cubicBezTo>
                  <a:lnTo>
                    <a:pt x="3646313" y="1492359"/>
                  </a:lnTo>
                  <a:cubicBezTo>
                    <a:pt x="3646313" y="1494149"/>
                    <a:pt x="3645602" y="1495866"/>
                    <a:pt x="3644336" y="1497131"/>
                  </a:cubicBezTo>
                  <a:cubicBezTo>
                    <a:pt x="3643071" y="1498397"/>
                    <a:pt x="3641354" y="1499108"/>
                    <a:pt x="3639564" y="1499108"/>
                  </a:cubicBezTo>
                  <a:lnTo>
                    <a:pt x="6748" y="1499108"/>
                  </a:lnTo>
                  <a:cubicBezTo>
                    <a:pt x="3021" y="1499108"/>
                    <a:pt x="0" y="1496086"/>
                    <a:pt x="0" y="1492359"/>
                  </a:cubicBezTo>
                  <a:lnTo>
                    <a:pt x="0" y="6748"/>
                  </a:lnTo>
                  <a:cubicBezTo>
                    <a:pt x="0" y="3021"/>
                    <a:pt x="3021" y="0"/>
                    <a:pt x="674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3646313" cy="1594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49898" y="1114425"/>
            <a:ext cx="12856932" cy="1252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8799">
                <a:solidFill>
                  <a:srgbClr val="133E3C"/>
                </a:solidFill>
                <a:latin typeface="Poppins Bold"/>
                <a:cs typeface="Poppins Bold"/>
              </a:rPr>
              <a:t>แผนการจ้างอินฟลูฯ 76 วัน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218750"/>
            <a:ext cx="4879259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>
                <a:solidFill>
                  <a:srgbClr val="133E3C"/>
                </a:solidFill>
                <a:latin typeface="Poppins Bold"/>
                <a:cs typeface="Poppins Bold"/>
              </a:rPr>
              <a:t>ออนไลน์  22 วัน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752451"/>
            <a:ext cx="4879259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>
                <a:solidFill>
                  <a:srgbClr val="133E3C"/>
                </a:solidFill>
                <a:latin typeface="Poppins Bold"/>
                <a:cs typeface="Poppins Bold"/>
              </a:rPr>
              <a:t>หน้าร้าน  22 วัน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286152"/>
            <a:ext cx="7515157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>
                <a:solidFill>
                  <a:srgbClr val="133E3C"/>
                </a:solidFill>
                <a:latin typeface="Poppins Bold"/>
                <a:cs typeface="Poppins Bold"/>
              </a:rPr>
              <a:t>อเมซอน + ของฝาก  22 วัน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819852"/>
            <a:ext cx="6115565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>
                <a:solidFill>
                  <a:srgbClr val="133E3C"/>
                </a:solidFill>
                <a:latin typeface="Poppins Bold"/>
                <a:cs typeface="Poppins Bold"/>
              </a:rPr>
              <a:t>โมเดิร์นเทรด  10 วัน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631893"/>
              </p:ext>
            </p:extLst>
          </p:nvPr>
        </p:nvGraphicFramePr>
        <p:xfrm>
          <a:off x="771358" y="1598987"/>
          <a:ext cx="12195246" cy="7935051"/>
        </p:xfrm>
        <a:graphic>
          <a:graphicData uri="http://schemas.openxmlformats.org/drawingml/2006/table">
            <a:tbl>
              <a:tblPr/>
              <a:tblGrid>
                <a:gridCol w="1742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2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2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2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21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72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870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530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SUNDAY</a:t>
                      </a: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MONDAY</a:t>
                      </a: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TUESDAY</a:t>
                      </a: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WEDNESDAY</a:t>
                      </a: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THURSDAY</a:t>
                      </a: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FRIDAY</a:t>
                      </a: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SATURDAY</a:t>
                      </a: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 dirty="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3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3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3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ลาดหลุมแก้ว</a:t>
                      </a:r>
                    </a:p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วิ่งเข้ากทม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โลตัส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อเมซอน</a:t>
                      </a:r>
                      <a:endParaRPr lang="en-US" sz="2400" dirty="0"/>
                    </a:p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dirty="0"/>
                        <a:t>Dd0596</a:t>
                      </a:r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ครีมฮอร์น 6 ชิ้น</a:t>
                      </a: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เกษตร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อเมซอน</a:t>
                      </a:r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ครีมฮอร์น 6 ชิ้น</a:t>
                      </a: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73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200" dirty="0"/>
                        <a:t>ลำพญา</a:t>
                      </a:r>
                      <a:r>
                        <a:rPr lang="en-US" sz="2200" dirty="0"/>
                        <a:t>3</a:t>
                      </a:r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2E2E2E"/>
                          </a:solidFill>
                          <a:latin typeface="DM Sans"/>
                          <a:cs typeface="DM Sans"/>
                        </a:rPr>
                        <a:t>ครีมฮอร์น 6 ชิ้น</a:t>
                      </a: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CJ</a:t>
                      </a:r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ครีมฮอร์น 6 ชิ้น</a:t>
                      </a:r>
                      <a:endParaRPr lang="en-US" sz="110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ของฝาก</a:t>
                      </a:r>
                    </a:p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เพชรบุรี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ลำพญา</a:t>
                      </a:r>
                      <a:r>
                        <a:rPr lang="en-US" sz="2400" dirty="0"/>
                        <a:t>2</a:t>
                      </a:r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ของฝาก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ใต้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84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766293" y="2250233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02662" y="2250233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20172" y="5187829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85090" y="5187829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92911" y="5187829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65649" y="5187829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56541" y="5187829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29280" y="5187829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02019" y="5187829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20816" y="3719031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5734" y="3719031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93554" y="3719031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66293" y="3719031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57185" y="3719031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29924" y="3719031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02662" y="3719031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20816" y="6665547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85734" y="6665547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93554" y="6665547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66293" y="6665547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57185" y="6665547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19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29924" y="6665547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02662" y="6665547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85734" y="2245556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31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766293" y="8125425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29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29924" y="8125425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02662" y="8125425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30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20816" y="8125425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85734" y="8125425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93554" y="8125425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57185" y="8125425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1358" y="686288"/>
            <a:ext cx="3749695" cy="588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5"/>
              </a:lnSpc>
              <a:spcBef>
                <a:spcPct val="0"/>
              </a:spcBef>
            </a:pPr>
            <a:r>
              <a:rPr lang="en-US" sz="3454">
                <a:solidFill>
                  <a:srgbClr val="4B3A2A"/>
                </a:solidFill>
                <a:latin typeface="DM Sans Italics"/>
              </a:rPr>
              <a:t>March 2024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16911" y="686288"/>
            <a:ext cx="3749695" cy="588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35"/>
              </a:lnSpc>
              <a:spcBef>
                <a:spcPct val="0"/>
              </a:spcBef>
            </a:pPr>
            <a:r>
              <a:rPr lang="en-US" sz="3454">
                <a:solidFill>
                  <a:srgbClr val="4B3A2A"/>
                </a:solidFill>
                <a:latin typeface="DM Sans Italics"/>
              </a:rPr>
              <a:t>03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3483349" y="752963"/>
            <a:ext cx="4033293" cy="7992374"/>
            <a:chOff x="0" y="0"/>
            <a:chExt cx="5377724" cy="10656498"/>
          </a:xfrm>
        </p:grpSpPr>
        <p:sp>
          <p:nvSpPr>
            <p:cNvPr id="37" name="AutoShape 37"/>
            <p:cNvSpPr/>
            <p:nvPr/>
          </p:nvSpPr>
          <p:spPr>
            <a:xfrm>
              <a:off x="0" y="0"/>
              <a:ext cx="5377724" cy="10656498"/>
            </a:xfrm>
            <a:prstGeom prst="rect">
              <a:avLst/>
            </a:prstGeom>
            <a:solidFill>
              <a:srgbClr val="FFF8D9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3483349" y="9048279"/>
            <a:ext cx="728475" cy="485759"/>
            <a:chOff x="0" y="0"/>
            <a:chExt cx="971300" cy="647678"/>
          </a:xfrm>
        </p:grpSpPr>
        <p:sp>
          <p:nvSpPr>
            <p:cNvPr id="39" name="AutoShape 39"/>
            <p:cNvSpPr/>
            <p:nvPr/>
          </p:nvSpPr>
          <p:spPr>
            <a:xfrm>
              <a:off x="0" y="323302"/>
              <a:ext cx="965345" cy="0"/>
            </a:xfrm>
            <a:prstGeom prst="line">
              <a:avLst/>
            </a:prstGeom>
            <a:ln w="18939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0"/>
            <p:cNvSpPr/>
            <p:nvPr/>
          </p:nvSpPr>
          <p:spPr>
            <a:xfrm flipV="1">
              <a:off x="573350" y="323302"/>
              <a:ext cx="391995" cy="317013"/>
            </a:xfrm>
            <a:prstGeom prst="line">
              <a:avLst/>
            </a:prstGeom>
            <a:ln w="18939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573350" y="7373"/>
              <a:ext cx="391995" cy="315929"/>
            </a:xfrm>
            <a:prstGeom prst="line">
              <a:avLst/>
            </a:prstGeom>
            <a:ln w="18939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4534266" y="8972721"/>
            <a:ext cx="561317" cy="561317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A9A"/>
            </a:solidFill>
            <a:ln w="9525" cap="sq">
              <a:solidFill>
                <a:srgbClr val="FF9A9A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103" tIns="60103" rIns="60103" bIns="60103" rtlCol="0" anchor="ctr"/>
            <a:lstStyle/>
            <a:p>
              <a:pPr algn="ctr">
                <a:lnSpc>
                  <a:spcPts val="2426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5428958" y="8972721"/>
            <a:ext cx="561317" cy="561317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32"/>
            </a:solidFill>
            <a:ln w="9525" cap="sq">
              <a:solidFill>
                <a:srgbClr val="FFEA32"/>
              </a:solidFill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103" tIns="60103" rIns="60103" bIns="60103" rtlCol="0" anchor="ctr"/>
            <a:lstStyle/>
            <a:p>
              <a:pPr algn="ctr">
                <a:lnSpc>
                  <a:spcPts val="2426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6243611" y="8972721"/>
            <a:ext cx="561317" cy="561317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EB0D"/>
            </a:solidFill>
            <a:ln w="9525" cap="sq">
              <a:solidFill>
                <a:srgbClr val="04EB0D"/>
              </a:solidFill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103" tIns="60103" rIns="60103" bIns="60103" rtlCol="0" anchor="ctr"/>
            <a:lstStyle/>
            <a:p>
              <a:pPr algn="ctr">
                <a:lnSpc>
                  <a:spcPts val="2426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7062103" y="8972721"/>
            <a:ext cx="561317" cy="561317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00EB"/>
            </a:solidFill>
            <a:ln w="9525" cap="sq">
              <a:solidFill>
                <a:srgbClr val="E600EB"/>
              </a:solidFill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103" tIns="60103" rIns="60103" bIns="60103" rtlCol="0" anchor="ctr"/>
            <a:lstStyle/>
            <a:p>
              <a:pPr algn="ctr">
                <a:lnSpc>
                  <a:spcPts val="2426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3766947" y="1170051"/>
            <a:ext cx="3749695" cy="783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1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2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3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4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5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6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7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8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9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10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11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12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13</a:t>
            </a:r>
          </a:p>
          <a:p>
            <a:pPr>
              <a:lnSpc>
                <a:spcPts val="4451"/>
              </a:lnSpc>
            </a:pPr>
            <a:endParaRPr lang="en-US" sz="2799">
              <a:solidFill>
                <a:srgbClr val="4B3A2A"/>
              </a:solidFill>
              <a:latin typeface="DM San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4387475" y="9553087"/>
            <a:ext cx="81951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4B3A2A"/>
                </a:solidFill>
                <a:cs typeface="DM Sans"/>
              </a:rPr>
              <a:t>ออนไลน์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5290578" y="9553087"/>
            <a:ext cx="81951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dirty="0" err="1">
                <a:solidFill>
                  <a:srgbClr val="4B3A2A"/>
                </a:solidFill>
                <a:cs typeface="DM Sans"/>
              </a:rPr>
              <a:t>หน้าร้าน</a:t>
            </a:r>
            <a:endParaRPr lang="en-US" sz="1800" dirty="0">
              <a:solidFill>
                <a:srgbClr val="4B3A2A"/>
              </a:solidFill>
              <a:cs typeface="DM Sans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6145333" y="9553087"/>
            <a:ext cx="819517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4B3A2A"/>
                </a:solidFill>
                <a:cs typeface="DM Sans"/>
              </a:rPr>
              <a:t>อมซ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4B3A2A"/>
                </a:solidFill>
                <a:cs typeface="DM Sans"/>
              </a:rPr>
              <a:t>ของฝาก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6942528" y="9553087"/>
            <a:ext cx="819517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4B3A2A"/>
                </a:solidFill>
                <a:cs typeface="DM Sans"/>
              </a:rPr>
              <a:t>โมเดิร์นเทรด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761740"/>
              </p:ext>
            </p:extLst>
          </p:nvPr>
        </p:nvGraphicFramePr>
        <p:xfrm>
          <a:off x="556351" y="992575"/>
          <a:ext cx="12711991" cy="8260804"/>
        </p:xfrm>
        <a:graphic>
          <a:graphicData uri="http://schemas.openxmlformats.org/drawingml/2006/table">
            <a:tbl>
              <a:tblPr/>
              <a:tblGrid>
                <a:gridCol w="181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5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5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9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628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1061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SUNDAY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MONDAY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TUESDAY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WEDNESDAY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THURSDAY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FRIDAY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SATURDAY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003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dirty="0"/>
                        <a:t>31</a:t>
                      </a:r>
                      <a:r>
                        <a:rPr lang="th-TH" sz="2400" dirty="0"/>
                        <a:t>  </a:t>
                      </a:r>
                      <a:r>
                        <a:rPr lang="en-US" sz="2400" dirty="0"/>
                        <a:t>CJ</a:t>
                      </a:r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ดิโอโซน</a:t>
                      </a:r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อเมซอน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ครีมฮอร์น 6 ชิ้น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ครีมฮอร์น 6 ชิ้น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อเมซอน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ไทวัสดุ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003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3 กษัตริย์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dirty="0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3 </a:t>
                      </a:r>
                      <a:r>
                        <a:rPr lang="en-US" sz="1735" dirty="0" err="1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กษัตริย์</a:t>
                      </a:r>
                      <a:endParaRPr lang="en-US" sz="11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ของฝาก</a:t>
                      </a:r>
                    </a:p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โคราช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ของฝาก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แหนมเนือง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ปตท ราชบุรี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อิออน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ธรรมศาลา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0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top</a:t>
                      </a:r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3 กษัตริย์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มอศิลปากร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แก้วมณีกาญ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dirty="0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3 </a:t>
                      </a:r>
                      <a:r>
                        <a:rPr lang="en-US" sz="1735" dirty="0" err="1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กษัตริย์</a:t>
                      </a:r>
                      <a:endParaRPr lang="en-US" sz="11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อเมซอน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อเมซอน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0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อิออน</a:t>
                      </a:r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วัดดอนขนาก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ของฝาก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มิตรภาพ</a:t>
                      </a:r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3 กษัตริย์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3 กษัตริย์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อเมซอน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วัดใหม่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003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ลาดหลุมแก้ว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อเมซอน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800" dirty="0"/>
                        <a:t>CJ</a:t>
                      </a:r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100" dirty="0"/>
                        <a:t>1</a:t>
                      </a:r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100" dirty="0"/>
                        <a:t>2</a:t>
                      </a:r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766293" y="2250233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29924" y="2250233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02662" y="2250233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20816" y="5187829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85734" y="5187829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93554" y="5187829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66293" y="5187829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57185" y="5187829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29924" y="5187829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02662" y="5187829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20816" y="3719031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20816" y="2250233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85734" y="3719031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93554" y="3719031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93554" y="2250233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66293" y="3719031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57185" y="3719031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57185" y="2250233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9924" y="3719031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02662" y="3719031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20816" y="6656627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85734" y="6656627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93554" y="6656627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66293" y="6656627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57185" y="6656627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29924" y="6656627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02662" y="6656627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27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20816" y="8125425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29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85734" y="8125425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28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57185" y="8125425"/>
            <a:ext cx="320733" cy="23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30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4662" y="322940"/>
            <a:ext cx="3749695" cy="588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5"/>
              </a:lnSpc>
              <a:spcBef>
                <a:spcPct val="0"/>
              </a:spcBef>
            </a:pPr>
            <a:r>
              <a:rPr lang="en-US" sz="3454" dirty="0">
                <a:solidFill>
                  <a:srgbClr val="4B3A2A"/>
                </a:solidFill>
                <a:latin typeface="DM Sans Italics"/>
              </a:rPr>
              <a:t>April 2024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12178" y="322940"/>
            <a:ext cx="3749695" cy="588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35"/>
              </a:lnSpc>
              <a:spcBef>
                <a:spcPct val="0"/>
              </a:spcBef>
            </a:pPr>
            <a:r>
              <a:rPr lang="en-US" sz="3454" dirty="0">
                <a:solidFill>
                  <a:srgbClr val="4B3A2A"/>
                </a:solidFill>
                <a:latin typeface="DM Sans Italics"/>
              </a:rPr>
              <a:t>04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3483349" y="752963"/>
            <a:ext cx="4033293" cy="7992374"/>
            <a:chOff x="0" y="0"/>
            <a:chExt cx="5377724" cy="10656498"/>
          </a:xfrm>
        </p:grpSpPr>
        <p:sp>
          <p:nvSpPr>
            <p:cNvPr id="36" name="AutoShape 36"/>
            <p:cNvSpPr/>
            <p:nvPr/>
          </p:nvSpPr>
          <p:spPr>
            <a:xfrm>
              <a:off x="0" y="0"/>
              <a:ext cx="5377724" cy="10656498"/>
            </a:xfrm>
            <a:prstGeom prst="rect">
              <a:avLst/>
            </a:prstGeom>
            <a:solidFill>
              <a:srgbClr val="FFF8D9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3483349" y="9048279"/>
            <a:ext cx="728475" cy="485759"/>
            <a:chOff x="0" y="0"/>
            <a:chExt cx="971300" cy="647678"/>
          </a:xfrm>
        </p:grpSpPr>
        <p:sp>
          <p:nvSpPr>
            <p:cNvPr id="38" name="AutoShape 38"/>
            <p:cNvSpPr/>
            <p:nvPr/>
          </p:nvSpPr>
          <p:spPr>
            <a:xfrm>
              <a:off x="0" y="323302"/>
              <a:ext cx="965345" cy="0"/>
            </a:xfrm>
            <a:prstGeom prst="line">
              <a:avLst/>
            </a:prstGeom>
            <a:ln w="18939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9" name="AutoShape 39"/>
            <p:cNvSpPr/>
            <p:nvPr/>
          </p:nvSpPr>
          <p:spPr>
            <a:xfrm flipV="1">
              <a:off x="573350" y="323302"/>
              <a:ext cx="391995" cy="317013"/>
            </a:xfrm>
            <a:prstGeom prst="line">
              <a:avLst/>
            </a:prstGeom>
            <a:ln w="18939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573350" y="7373"/>
              <a:ext cx="391995" cy="315929"/>
            </a:xfrm>
            <a:prstGeom prst="line">
              <a:avLst/>
            </a:prstGeom>
            <a:ln w="18939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4534266" y="8972721"/>
            <a:ext cx="561317" cy="561317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A9A"/>
            </a:solidFill>
            <a:ln w="9525" cap="sq">
              <a:solidFill>
                <a:srgbClr val="FF9A9A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103" tIns="60103" rIns="60103" bIns="60103" rtlCol="0" anchor="ctr"/>
            <a:lstStyle/>
            <a:p>
              <a:pPr algn="ctr">
                <a:lnSpc>
                  <a:spcPts val="2426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428958" y="8972721"/>
            <a:ext cx="561317" cy="561317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32"/>
            </a:solidFill>
            <a:ln w="9525" cap="sq">
              <a:solidFill>
                <a:srgbClr val="FFEA32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103" tIns="60103" rIns="60103" bIns="60103" rtlCol="0" anchor="ctr"/>
            <a:lstStyle/>
            <a:p>
              <a:pPr algn="ctr">
                <a:lnSpc>
                  <a:spcPts val="2426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6243611" y="8972721"/>
            <a:ext cx="561317" cy="561317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EB0D"/>
            </a:solidFill>
            <a:ln w="9525" cap="sq">
              <a:solidFill>
                <a:srgbClr val="04EB0D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103" tIns="60103" rIns="60103" bIns="60103" rtlCol="0" anchor="ctr"/>
            <a:lstStyle/>
            <a:p>
              <a:pPr algn="ctr">
                <a:lnSpc>
                  <a:spcPts val="2426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7062103" y="8972721"/>
            <a:ext cx="561317" cy="561317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00EB"/>
            </a:solidFill>
            <a:ln w="9525" cap="sq">
              <a:solidFill>
                <a:srgbClr val="E600EB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103" tIns="60103" rIns="60103" bIns="60103" rtlCol="0" anchor="ctr"/>
            <a:lstStyle/>
            <a:p>
              <a:pPr algn="ctr">
                <a:lnSpc>
                  <a:spcPts val="2426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4387475" y="9553087"/>
            <a:ext cx="81951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4B3A2A"/>
                </a:solidFill>
                <a:cs typeface="DM Sans"/>
              </a:rPr>
              <a:t>ออนไลน์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5290578" y="9553087"/>
            <a:ext cx="81951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4B3A2A"/>
                </a:solidFill>
                <a:cs typeface="DM Sans"/>
              </a:rPr>
              <a:t>หน้าร้าน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6145333" y="9553087"/>
            <a:ext cx="819517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4B3A2A"/>
                </a:solidFill>
                <a:cs typeface="DM Sans"/>
              </a:rPr>
              <a:t>อมซ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4B3A2A"/>
                </a:solidFill>
                <a:cs typeface="DM Sans"/>
              </a:rPr>
              <a:t>ของฝาก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6942528" y="9553087"/>
            <a:ext cx="819517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4B3A2A"/>
                </a:solidFill>
                <a:cs typeface="DM Sans"/>
              </a:rPr>
              <a:t>โมเดิร์นเทรด</a:t>
            </a:r>
          </a:p>
        </p:txBody>
      </p:sp>
    </p:spTree>
  </p:cSld>
  <p:clrMapOvr>
    <a:masterClrMapping/>
  </p:clrMapOvr>
  <p:transition>
    <p:cover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874000"/>
              </p:ext>
            </p:extLst>
          </p:nvPr>
        </p:nvGraphicFramePr>
        <p:xfrm>
          <a:off x="771358" y="873044"/>
          <a:ext cx="12052037" cy="8180765"/>
        </p:xfrm>
        <a:graphic>
          <a:graphicData uri="http://schemas.openxmlformats.org/drawingml/2006/table">
            <a:tbl>
              <a:tblPr/>
              <a:tblGrid>
                <a:gridCol w="1711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1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1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1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6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51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4358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SUNDAY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MONDAY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TUESDAY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WEDNESDAY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THURSDAY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FRIDAY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u="none" strike="noStrike">
                          <a:solidFill>
                            <a:srgbClr val="4B3A2A"/>
                          </a:solidFill>
                          <a:latin typeface="DM Sans"/>
                        </a:rPr>
                        <a:t>SATURDAY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933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ของฝาก</a:t>
                      </a:r>
                    </a:p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บ้านใหญ่</a:t>
                      </a:r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ดิโอโซน</a:t>
                      </a:r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dirty="0" err="1">
                          <a:solidFill>
                            <a:srgbClr val="4B3A2A"/>
                          </a:solidFill>
                          <a:cs typeface="DM Sans"/>
                        </a:rPr>
                        <a:t>ครีมฮอร์นจัมโบ้</a:t>
                      </a:r>
                      <a:endParaRPr lang="en-US" sz="11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 dirty="0" err="1">
                          <a:solidFill>
                            <a:srgbClr val="4B3A2A"/>
                          </a:solidFill>
                          <a:cs typeface="DM Sans"/>
                        </a:rPr>
                        <a:t>ครีมฮอร์นจัมโบ้</a:t>
                      </a:r>
                      <a:endParaRPr lang="en-US" sz="11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196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cs typeface="DM Sans"/>
                        </a:rPr>
                        <a:t>ครีมฮอร์นจัมโบ้ 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cs typeface="DM Sans"/>
                        </a:rPr>
                        <a:t>ครีมฮอร์นจัมโบ้ 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ไทวัสดุ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อเมซอน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3200" dirty="0"/>
                        <a:t>อิออน</a:t>
                      </a:r>
                      <a:endParaRPr lang="en-US" sz="32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ของฝาก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กาญจนบรี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ลำพยา</a:t>
                      </a:r>
                      <a:r>
                        <a:rPr lang="en-US" sz="2400" dirty="0"/>
                        <a:t>2</a:t>
                      </a:r>
                      <a:endParaRPr lang="th-TH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อเมซอน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แมครโคร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cs typeface="DM Sans"/>
                        </a:rPr>
                        <a:t>ครีมฮอร์นจัมโบ้</a:t>
                      </a:r>
                      <a:r>
                        <a:rPr lang="en-US" sz="1735">
                          <a:solidFill>
                            <a:srgbClr val="4B3A2A"/>
                          </a:solidFill>
                          <a:latin typeface="DM Sans"/>
                        </a:rPr>
                        <a:t> 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cs typeface="DM Sans"/>
                        </a:rPr>
                        <a:t>ครีมฮอร์นจัมโบ้</a:t>
                      </a:r>
                      <a:r>
                        <a:rPr lang="en-US" sz="1735">
                          <a:solidFill>
                            <a:srgbClr val="4B3A2A"/>
                          </a:solidFill>
                          <a:latin typeface="DM Sans"/>
                        </a:rPr>
                        <a:t> 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ศิลปากร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อเมซอน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แก้วมณี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196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ธรรมศาลา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อเมซอน</a:t>
                      </a:r>
                      <a:endParaRPr lang="en-US" sz="2400" dirty="0"/>
                    </a:p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ชลบุรี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ของฝาก</a:t>
                      </a:r>
                    </a:p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แม่กุหลาบ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dirty="0"/>
                        <a:t>Big c</a:t>
                      </a:r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คุณาวรรณ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เปี๊ยะ 450 ก.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เปี๊ยะ 450 ก.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196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เปี๊ยะ 450 ก.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35">
                          <a:solidFill>
                            <a:srgbClr val="4B3A2A"/>
                          </a:solidFill>
                          <a:latin typeface="DM Sans"/>
                          <a:cs typeface="DM Sans"/>
                        </a:rPr>
                        <a:t>เปี๊ยะ 450 ก.</a:t>
                      </a:r>
                      <a:endParaRPr lang="en-US" sz="110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9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มอเกษตร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คุณกุ้ง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ลำพยา</a:t>
                      </a:r>
                      <a:r>
                        <a:rPr lang="en-US" sz="2400" dirty="0"/>
                        <a:t>3</a:t>
                      </a:r>
                      <a:endParaRPr lang="th-TH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429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/>
                        <a:t>ของฝาก</a:t>
                      </a:r>
                    </a:p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th-TH" sz="2400" dirty="0"/>
                        <a:t>ผญ เกษม</a:t>
                      </a:r>
                      <a:endParaRPr lang="en-US" sz="24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42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 dirty="0"/>
                    </a:p>
                  </a:txBody>
                  <a:tcPr marL="10434" marR="10434" marT="10434" marB="10434" anchor="ctr">
                    <a:lnL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71" cap="flat" cmpd="sng" algn="ctr">
                      <a:solidFill>
                        <a:srgbClr val="7780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766293" y="2250233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29924" y="2250233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02662" y="2250233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20816" y="5187829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85734" y="5187829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93554" y="5187829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66293" y="5187829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57185" y="5187829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29924" y="5187829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02662" y="5187829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20816" y="3719031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85734" y="3719031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93554" y="3719031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93554" y="2250233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66293" y="3719031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57185" y="3719031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29924" y="3719031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02662" y="3719031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20816" y="6656627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85734" y="6656627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19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93554" y="6656627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93554" y="8125425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 dirty="0">
                <a:solidFill>
                  <a:srgbClr val="4B3A2A"/>
                </a:solidFill>
                <a:latin typeface="DM Sans"/>
              </a:rPr>
              <a:t>29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66293" y="6656627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66293" y="8125425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31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57185" y="6656627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29924" y="6656627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029924" y="8125425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30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02662" y="6656627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820816" y="8125425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27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085734" y="8125425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57185" y="8125425"/>
            <a:ext cx="320733" cy="24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4"/>
              </a:lnSpc>
            </a:pPr>
            <a:r>
              <a:rPr lang="en-US" sz="1446">
                <a:solidFill>
                  <a:srgbClr val="4B3A2A"/>
                </a:solidFill>
                <a:latin typeface="DM Sans"/>
              </a:rPr>
              <a:t>28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1357" y="392019"/>
            <a:ext cx="3749695" cy="588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5"/>
              </a:lnSpc>
              <a:spcBef>
                <a:spcPct val="0"/>
              </a:spcBef>
            </a:pPr>
            <a:r>
              <a:rPr lang="en-US" sz="3454" dirty="0">
                <a:solidFill>
                  <a:srgbClr val="4B3A2A"/>
                </a:solidFill>
                <a:latin typeface="DM Sans Italics"/>
              </a:rPr>
              <a:t>May 2024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16911" y="686288"/>
            <a:ext cx="3749695" cy="588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35"/>
              </a:lnSpc>
              <a:spcBef>
                <a:spcPct val="0"/>
              </a:spcBef>
            </a:pPr>
            <a:r>
              <a:rPr lang="en-US" sz="3454">
                <a:solidFill>
                  <a:srgbClr val="4B3A2A"/>
                </a:solidFill>
                <a:latin typeface="DM Sans Italics"/>
              </a:rPr>
              <a:t>05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3483349" y="752963"/>
            <a:ext cx="4033293" cy="7992374"/>
            <a:chOff x="0" y="0"/>
            <a:chExt cx="5377724" cy="10656498"/>
          </a:xfrm>
        </p:grpSpPr>
        <p:sp>
          <p:nvSpPr>
            <p:cNvPr id="37" name="AutoShape 37"/>
            <p:cNvSpPr/>
            <p:nvPr/>
          </p:nvSpPr>
          <p:spPr>
            <a:xfrm>
              <a:off x="0" y="0"/>
              <a:ext cx="5377724" cy="10656498"/>
            </a:xfrm>
            <a:prstGeom prst="rect">
              <a:avLst/>
            </a:prstGeom>
            <a:solidFill>
              <a:srgbClr val="FFF8D9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3483349" y="9048279"/>
            <a:ext cx="728475" cy="485759"/>
            <a:chOff x="0" y="0"/>
            <a:chExt cx="971300" cy="647678"/>
          </a:xfrm>
        </p:grpSpPr>
        <p:sp>
          <p:nvSpPr>
            <p:cNvPr id="39" name="AutoShape 39"/>
            <p:cNvSpPr/>
            <p:nvPr/>
          </p:nvSpPr>
          <p:spPr>
            <a:xfrm>
              <a:off x="0" y="323302"/>
              <a:ext cx="965345" cy="0"/>
            </a:xfrm>
            <a:prstGeom prst="line">
              <a:avLst/>
            </a:prstGeom>
            <a:ln w="18939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0"/>
            <p:cNvSpPr/>
            <p:nvPr/>
          </p:nvSpPr>
          <p:spPr>
            <a:xfrm flipV="1">
              <a:off x="573350" y="323302"/>
              <a:ext cx="391995" cy="317013"/>
            </a:xfrm>
            <a:prstGeom prst="line">
              <a:avLst/>
            </a:prstGeom>
            <a:ln w="18939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573350" y="7373"/>
              <a:ext cx="391995" cy="315929"/>
            </a:xfrm>
            <a:prstGeom prst="line">
              <a:avLst/>
            </a:prstGeom>
            <a:ln w="18939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13766947" y="1170051"/>
            <a:ext cx="3749695" cy="783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1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2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3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4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5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6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7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8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9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10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11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12</a:t>
            </a:r>
          </a:p>
          <a:p>
            <a:pPr>
              <a:lnSpc>
                <a:spcPts val="4451"/>
              </a:lnSpc>
            </a:pPr>
            <a:r>
              <a:rPr lang="en-US" sz="2799">
                <a:solidFill>
                  <a:srgbClr val="4B3A2A"/>
                </a:solidFill>
                <a:latin typeface="DM Sans"/>
              </a:rPr>
              <a:t>13</a:t>
            </a:r>
          </a:p>
          <a:p>
            <a:pPr>
              <a:lnSpc>
                <a:spcPts val="4451"/>
              </a:lnSpc>
            </a:pPr>
            <a:endParaRPr lang="en-US" sz="2799">
              <a:solidFill>
                <a:srgbClr val="4B3A2A"/>
              </a:solidFill>
              <a:latin typeface="DM Sans"/>
            </a:endParaRPr>
          </a:p>
        </p:txBody>
      </p:sp>
      <p:grpSp>
        <p:nvGrpSpPr>
          <p:cNvPr id="43" name="Group 43"/>
          <p:cNvGrpSpPr/>
          <p:nvPr/>
        </p:nvGrpSpPr>
        <p:grpSpPr>
          <a:xfrm>
            <a:off x="14534266" y="8972721"/>
            <a:ext cx="561317" cy="561317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A9A"/>
            </a:solidFill>
            <a:ln w="9525" cap="sq">
              <a:solidFill>
                <a:srgbClr val="FF9A9A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103" tIns="60103" rIns="60103" bIns="60103" rtlCol="0" anchor="ctr"/>
            <a:lstStyle/>
            <a:p>
              <a:pPr algn="ctr">
                <a:lnSpc>
                  <a:spcPts val="2426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5428958" y="8972721"/>
            <a:ext cx="561317" cy="561317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32"/>
            </a:solidFill>
            <a:ln w="9525" cap="sq">
              <a:solidFill>
                <a:srgbClr val="FFEA32"/>
              </a:soli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103" tIns="60103" rIns="60103" bIns="60103" rtlCol="0" anchor="ctr"/>
            <a:lstStyle/>
            <a:p>
              <a:pPr algn="ctr">
                <a:lnSpc>
                  <a:spcPts val="2426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6243611" y="8972721"/>
            <a:ext cx="561317" cy="561317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EB0D"/>
            </a:solidFill>
            <a:ln w="9525" cap="sq">
              <a:solidFill>
                <a:srgbClr val="04EB0D"/>
              </a:solidFill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103" tIns="60103" rIns="60103" bIns="60103" rtlCol="0" anchor="ctr"/>
            <a:lstStyle/>
            <a:p>
              <a:pPr algn="ctr">
                <a:lnSpc>
                  <a:spcPts val="2426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7062103" y="8972721"/>
            <a:ext cx="561317" cy="561317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00EB"/>
            </a:solidFill>
            <a:ln w="9525" cap="sq">
              <a:solidFill>
                <a:srgbClr val="E600EB"/>
              </a:solidFill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103" tIns="60103" rIns="60103" bIns="60103" rtlCol="0" anchor="ctr"/>
            <a:lstStyle/>
            <a:p>
              <a:pPr algn="ctr">
                <a:lnSpc>
                  <a:spcPts val="2426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4387475" y="9553087"/>
            <a:ext cx="81951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4B3A2A"/>
                </a:solidFill>
                <a:cs typeface="DM Sans"/>
              </a:rPr>
              <a:t>ออนไลน์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5290578" y="9553087"/>
            <a:ext cx="81951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4B3A2A"/>
                </a:solidFill>
                <a:cs typeface="DM Sans"/>
              </a:rPr>
              <a:t>หน้าร้าน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6145333" y="9553087"/>
            <a:ext cx="819517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4B3A2A"/>
                </a:solidFill>
                <a:cs typeface="DM Sans"/>
              </a:rPr>
              <a:t>อมซ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4B3A2A"/>
                </a:solidFill>
                <a:cs typeface="DM Sans"/>
              </a:rPr>
              <a:t>ของฝาก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6942528" y="9553087"/>
            <a:ext cx="819517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4B3A2A"/>
                </a:solidFill>
                <a:cs typeface="DM Sans"/>
              </a:rPr>
              <a:t>โมเดิร์นเทรด</a:t>
            </a:r>
          </a:p>
        </p:txBody>
      </p:sp>
    </p:spTree>
  </p:cSld>
  <p:clrMapOvr>
    <a:masterClrMapping/>
  </p:clrMapOvr>
  <p:transition>
    <p:cover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310314" y="2458715"/>
            <a:ext cx="2944562" cy="5826322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88" r="-88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3254876" y="2458715"/>
            <a:ext cx="2944562" cy="5826322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88" r="-88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6199438" y="2458715"/>
            <a:ext cx="2944562" cy="5826322"/>
            <a:chOff x="0" y="0"/>
            <a:chExt cx="2620010" cy="5184140"/>
          </a:xfrm>
        </p:grpSpPr>
        <p:sp>
          <p:nvSpPr>
            <p:cNvPr id="23" name="Freeform 2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88" r="-88"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32" name="Group 32"/>
          <p:cNvGrpSpPr>
            <a:grpSpLocks noChangeAspect="1"/>
          </p:cNvGrpSpPr>
          <p:nvPr/>
        </p:nvGrpSpPr>
        <p:grpSpPr>
          <a:xfrm>
            <a:off x="9144000" y="2458715"/>
            <a:ext cx="2944562" cy="5826322"/>
            <a:chOff x="0" y="0"/>
            <a:chExt cx="2620010" cy="5184140"/>
          </a:xfrm>
        </p:grpSpPr>
        <p:sp>
          <p:nvSpPr>
            <p:cNvPr id="33" name="Freeform 3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61" r="-61"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42" name="Group 42"/>
          <p:cNvGrpSpPr>
            <a:grpSpLocks noChangeAspect="1"/>
          </p:cNvGrpSpPr>
          <p:nvPr/>
        </p:nvGrpSpPr>
        <p:grpSpPr>
          <a:xfrm>
            <a:off x="12088562" y="2458715"/>
            <a:ext cx="2944562" cy="5826322"/>
            <a:chOff x="0" y="0"/>
            <a:chExt cx="2620010" cy="5184140"/>
          </a:xfrm>
        </p:grpSpPr>
        <p:sp>
          <p:nvSpPr>
            <p:cNvPr id="43" name="Freeform 4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61" r="-61"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52" name="Group 52"/>
          <p:cNvGrpSpPr>
            <a:grpSpLocks noChangeAspect="1"/>
          </p:cNvGrpSpPr>
          <p:nvPr/>
        </p:nvGrpSpPr>
        <p:grpSpPr>
          <a:xfrm>
            <a:off x="15033124" y="2458715"/>
            <a:ext cx="2944562" cy="5826322"/>
            <a:chOff x="0" y="0"/>
            <a:chExt cx="2620010" cy="5184140"/>
          </a:xfrm>
        </p:grpSpPr>
        <p:sp>
          <p:nvSpPr>
            <p:cNvPr id="53" name="Freeform 5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61" r="-61"/>
              </a:stretch>
            </a:blipFill>
          </p:spPr>
        </p:sp>
        <p:sp>
          <p:nvSpPr>
            <p:cNvPr id="55" name="Freeform 5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60" name="Freeform 6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62" name="TextBox 62"/>
          <p:cNvSpPr txBox="1"/>
          <p:nvPr/>
        </p:nvSpPr>
        <p:spPr>
          <a:xfrm>
            <a:off x="-339905" y="804523"/>
            <a:ext cx="14107257" cy="1425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133E3C"/>
                </a:solidFill>
                <a:latin typeface="Poppins"/>
              </a:rPr>
              <a:t>INFLUENCER - Online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-651410" y="8542212"/>
            <a:ext cx="486800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133E3C"/>
                </a:solidFill>
                <a:latin typeface="Poppins"/>
              </a:rPr>
              <a:t> 7,000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293153" y="8542212"/>
            <a:ext cx="486800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133E3C"/>
                </a:solidFill>
                <a:latin typeface="Poppins"/>
              </a:rPr>
              <a:t>3,500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237715" y="8542212"/>
            <a:ext cx="486800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133E3C"/>
                </a:solidFill>
                <a:latin typeface="Poppins"/>
              </a:rPr>
              <a:t> 8,000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182277" y="8542212"/>
            <a:ext cx="486800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133E3C"/>
                </a:solidFill>
                <a:latin typeface="Poppins"/>
              </a:rPr>
              <a:t>8,000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126839" y="8542212"/>
            <a:ext cx="486800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133E3C"/>
                </a:solidFill>
                <a:latin typeface="Poppins"/>
              </a:rPr>
              <a:t>17,000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4071401" y="8542212"/>
            <a:ext cx="486800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133E3C"/>
                </a:solidFill>
                <a:latin typeface="Poppins"/>
              </a:rPr>
              <a:t>20,000</a:t>
            </a:r>
          </a:p>
        </p:txBody>
      </p:sp>
    </p:spTree>
  </p:cSld>
  <p:clrMapOvr>
    <a:masterClrMapping/>
  </p:clrMapOvr>
  <p:transition>
    <p:cover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61723" y="2746178"/>
            <a:ext cx="2944562" cy="5826322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61" r="-6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-339905" y="657937"/>
            <a:ext cx="14107257" cy="1425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133E3C"/>
                </a:solidFill>
                <a:latin typeface="Poppins"/>
              </a:rPr>
              <a:t>INFLUENCER - Online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65340" y="2911958"/>
            <a:ext cx="5908371" cy="7150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56"/>
              </a:lnSpc>
            </a:pPr>
            <a:r>
              <a:rPr lang="en-US" sz="2271">
                <a:solidFill>
                  <a:srgbClr val="133E3C"/>
                </a:solidFill>
                <a:latin typeface="Poppins"/>
              </a:rPr>
              <a:t>Rate Card : kaewbaiyaii</a:t>
            </a:r>
          </a:p>
          <a:p>
            <a:pPr algn="just">
              <a:lnSpc>
                <a:spcPts val="3156"/>
              </a:lnSpc>
            </a:pPr>
            <a:endParaRPr lang="en-US" sz="2271">
              <a:solidFill>
                <a:srgbClr val="133E3C"/>
              </a:solidFill>
              <a:latin typeface="Poppins"/>
            </a:endParaRPr>
          </a:p>
          <a:p>
            <a:pPr algn="just">
              <a:lnSpc>
                <a:spcPts val="3156"/>
              </a:lnSpc>
            </a:pPr>
            <a:r>
              <a:rPr lang="en-US" sz="2271">
                <a:solidFill>
                  <a:srgbClr val="133E3C"/>
                </a:solidFill>
                <a:latin typeface="Poppins"/>
              </a:rPr>
              <a:t>Tiktok 823,000 Followers</a:t>
            </a:r>
          </a:p>
          <a:p>
            <a:pPr algn="just">
              <a:lnSpc>
                <a:spcPts val="3156"/>
              </a:lnSpc>
            </a:pPr>
            <a:r>
              <a:rPr lang="en-US" sz="2271">
                <a:solidFill>
                  <a:srgbClr val="133E3C"/>
                </a:solidFill>
                <a:latin typeface="Poppins"/>
              </a:rPr>
              <a:t>Instagram 45,000 Followers</a:t>
            </a:r>
          </a:p>
          <a:p>
            <a:pPr algn="just">
              <a:lnSpc>
                <a:spcPts val="3156"/>
              </a:lnSpc>
            </a:pPr>
            <a:r>
              <a:rPr lang="en-US" sz="2271">
                <a:solidFill>
                  <a:srgbClr val="133E3C"/>
                </a:solidFill>
                <a:latin typeface="Poppins"/>
              </a:rPr>
              <a:t>FB Pages 39,000 Followers</a:t>
            </a:r>
          </a:p>
          <a:p>
            <a:pPr algn="just">
              <a:lnSpc>
                <a:spcPts val="3156"/>
              </a:lnSpc>
            </a:pPr>
            <a:endParaRPr lang="en-US" sz="2271">
              <a:solidFill>
                <a:srgbClr val="133E3C"/>
              </a:solidFill>
              <a:latin typeface="Poppins"/>
            </a:endParaRPr>
          </a:p>
          <a:p>
            <a:pPr algn="just">
              <a:lnSpc>
                <a:spcPts val="3156"/>
              </a:lnSpc>
            </a:pPr>
            <a:r>
              <a:rPr lang="en-US" sz="2271">
                <a:solidFill>
                  <a:srgbClr val="133E3C"/>
                </a:solidFill>
                <a:cs typeface="Poppins"/>
              </a:rPr>
              <a:t>คลิปรีวิวสินค้า </a:t>
            </a:r>
          </a:p>
          <a:p>
            <a:pPr algn="just">
              <a:lnSpc>
                <a:spcPts val="3156"/>
              </a:lnSpc>
            </a:pPr>
            <a:r>
              <a:rPr lang="en-US" sz="2271">
                <a:solidFill>
                  <a:srgbClr val="133E3C"/>
                </a:solidFill>
                <a:latin typeface="Poppins"/>
                <a:cs typeface="Poppins"/>
              </a:rPr>
              <a:t>ความยาวไม่เกิน 1.30 นาที</a:t>
            </a:r>
          </a:p>
          <a:p>
            <a:pPr algn="just">
              <a:lnSpc>
                <a:spcPts val="3156"/>
              </a:lnSpc>
            </a:pPr>
            <a:r>
              <a:rPr lang="en-US" sz="2271">
                <a:solidFill>
                  <a:srgbClr val="133E3C"/>
                </a:solidFill>
                <a:latin typeface="Poppins"/>
                <a:cs typeface="Poppins"/>
              </a:rPr>
              <a:t>**ลงให้ทั้ง 3 ช่องทาง**  </a:t>
            </a:r>
          </a:p>
          <a:p>
            <a:pPr algn="just">
              <a:lnSpc>
                <a:spcPts val="3156"/>
              </a:lnSpc>
            </a:pPr>
            <a:r>
              <a:rPr lang="en-US" sz="2271">
                <a:solidFill>
                  <a:srgbClr val="133E3C"/>
                </a:solidFill>
                <a:latin typeface="Poppins"/>
              </a:rPr>
              <a:t>Tiktok + ig reels + FB Pages reels </a:t>
            </a:r>
          </a:p>
          <a:p>
            <a:pPr algn="just">
              <a:lnSpc>
                <a:spcPts val="3156"/>
              </a:lnSpc>
            </a:pPr>
            <a:endParaRPr lang="en-US" sz="2271">
              <a:solidFill>
                <a:srgbClr val="133E3C"/>
              </a:solidFill>
              <a:latin typeface="Poppins"/>
            </a:endParaRPr>
          </a:p>
          <a:p>
            <a:pPr algn="just">
              <a:lnSpc>
                <a:spcPts val="3156"/>
              </a:lnSpc>
            </a:pPr>
            <a:r>
              <a:rPr lang="en-US" sz="2271">
                <a:solidFill>
                  <a:srgbClr val="133E3C"/>
                </a:solidFill>
                <a:latin typeface="Poppins"/>
                <a:cs typeface="Poppins"/>
              </a:rPr>
              <a:t>คลิปละ 17,000 บาท</a:t>
            </a:r>
          </a:p>
          <a:p>
            <a:pPr algn="just">
              <a:lnSpc>
                <a:spcPts val="3156"/>
              </a:lnSpc>
            </a:pPr>
            <a:r>
              <a:rPr lang="en-US" sz="2271">
                <a:solidFill>
                  <a:srgbClr val="133E3C"/>
                </a:solidFill>
                <a:latin typeface="Poppins"/>
                <a:cs typeface="Poppins"/>
              </a:rPr>
              <a:t>**ราคานี้พิเศษ</a:t>
            </a:r>
          </a:p>
          <a:p>
            <a:pPr algn="just">
              <a:lnSpc>
                <a:spcPts val="3156"/>
              </a:lnSpc>
            </a:pPr>
            <a:r>
              <a:rPr lang="en-US" sz="2271">
                <a:solidFill>
                  <a:srgbClr val="133E3C"/>
                </a:solidFill>
                <a:latin typeface="Poppins"/>
                <a:cs typeface="Poppins"/>
              </a:rPr>
              <a:t>สำหรับจ่ายก่อนลงคลิป 100%**</a:t>
            </a:r>
          </a:p>
          <a:p>
            <a:pPr algn="just">
              <a:lnSpc>
                <a:spcPts val="3156"/>
              </a:lnSpc>
            </a:pPr>
            <a:endParaRPr lang="en-US" sz="2271">
              <a:solidFill>
                <a:srgbClr val="133E3C"/>
              </a:solidFill>
              <a:latin typeface="Poppins"/>
              <a:cs typeface="Poppins"/>
            </a:endParaRPr>
          </a:p>
          <a:p>
            <a:pPr algn="just">
              <a:lnSpc>
                <a:spcPts val="3156"/>
              </a:lnSpc>
            </a:pPr>
            <a:r>
              <a:rPr lang="en-US" sz="2271">
                <a:solidFill>
                  <a:srgbClr val="133E3C"/>
                </a:solidFill>
                <a:latin typeface="Poppins"/>
                <a:cs typeface="Poppins"/>
              </a:rPr>
              <a:t>คลิปละ 20,000 บาท</a:t>
            </a:r>
          </a:p>
          <a:p>
            <a:pPr algn="just">
              <a:lnSpc>
                <a:spcPts val="3156"/>
              </a:lnSpc>
            </a:pPr>
            <a:r>
              <a:rPr lang="en-US" sz="2271">
                <a:solidFill>
                  <a:srgbClr val="133E3C"/>
                </a:solidFill>
                <a:latin typeface="Poppins"/>
                <a:cs typeface="Poppins"/>
              </a:rPr>
              <a:t>**สำหรับการจ่ายแบบมีเครดิตเทอม**</a:t>
            </a:r>
          </a:p>
          <a:p>
            <a:pPr algn="just">
              <a:lnSpc>
                <a:spcPts val="3156"/>
              </a:lnSpc>
            </a:pPr>
            <a:endParaRPr lang="en-US" sz="2271">
              <a:solidFill>
                <a:srgbClr val="133E3C"/>
              </a:solidFill>
              <a:latin typeface="Poppins"/>
              <a:cs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990627" y="2911958"/>
            <a:ext cx="7553452" cy="671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36"/>
              </a:lnSpc>
            </a:pPr>
            <a:r>
              <a:rPr lang="en-US" sz="2400">
                <a:solidFill>
                  <a:srgbClr val="133E3C"/>
                </a:solidFill>
                <a:latin typeface="Poppins"/>
                <a:cs typeface="Poppins"/>
              </a:rPr>
              <a:t>- ค่า gen code 1,000 บาท</a:t>
            </a:r>
          </a:p>
          <a:p>
            <a:pPr algn="just">
              <a:lnSpc>
                <a:spcPts val="3336"/>
              </a:lnSpc>
            </a:pPr>
            <a:r>
              <a:rPr lang="en-US" sz="2400">
                <a:solidFill>
                  <a:srgbClr val="133E3C"/>
                </a:solidFill>
                <a:latin typeface="Poppins"/>
                <a:cs typeface="Poppins"/>
              </a:rPr>
              <a:t>- นำคลิปไปใช้ต่อ เดือนละ 3,000 บาท (ต่อ 1 ช่องทาง)</a:t>
            </a:r>
          </a:p>
          <a:p>
            <a:pPr algn="just">
              <a:lnSpc>
                <a:spcPts val="3336"/>
              </a:lnSpc>
            </a:pPr>
            <a:endParaRPr lang="en-US" sz="2400">
              <a:solidFill>
                <a:srgbClr val="133E3C"/>
              </a:solidFill>
              <a:latin typeface="Poppins"/>
              <a:cs typeface="Poppins"/>
            </a:endParaRPr>
          </a:p>
          <a:p>
            <a:pPr algn="just">
              <a:lnSpc>
                <a:spcPts val="3336"/>
              </a:lnSpc>
            </a:pPr>
            <a:r>
              <a:rPr lang="en-US" sz="2400">
                <a:solidFill>
                  <a:srgbClr val="133E3C"/>
                </a:solidFill>
                <a:latin typeface="Poppins"/>
                <a:cs typeface="Poppins"/>
              </a:rPr>
              <a:t>***ราคานี้มีผล 30 วัน***</a:t>
            </a:r>
          </a:p>
          <a:p>
            <a:pPr algn="just">
              <a:lnSpc>
                <a:spcPts val="3336"/>
              </a:lnSpc>
            </a:pPr>
            <a:endParaRPr lang="en-US" sz="2400">
              <a:solidFill>
                <a:srgbClr val="133E3C"/>
              </a:solidFill>
              <a:latin typeface="Poppins"/>
              <a:cs typeface="Poppins"/>
            </a:endParaRPr>
          </a:p>
          <a:p>
            <a:pPr algn="just">
              <a:lnSpc>
                <a:spcPts val="3336"/>
              </a:lnSpc>
            </a:pPr>
            <a:r>
              <a:rPr lang="en-US" sz="2400">
                <a:solidFill>
                  <a:srgbClr val="133E3C"/>
                </a:solidFill>
                <a:latin typeface="Poppins"/>
              </a:rPr>
              <a:t>**Conditions**</a:t>
            </a:r>
          </a:p>
          <a:p>
            <a:pPr algn="just">
              <a:lnSpc>
                <a:spcPts val="3336"/>
              </a:lnSpc>
            </a:pPr>
            <a:r>
              <a:rPr lang="en-US" sz="2400">
                <a:solidFill>
                  <a:srgbClr val="133E3C"/>
                </a:solidFill>
                <a:latin typeface="Poppins"/>
                <a:cs typeface="Poppins"/>
              </a:rPr>
              <a:t>- รับเครดิตเทอมไม่เกิน 30 วันเท่านั้น</a:t>
            </a:r>
          </a:p>
          <a:p>
            <a:pPr algn="just">
              <a:lnSpc>
                <a:spcPts val="3336"/>
              </a:lnSpc>
            </a:pPr>
            <a:r>
              <a:rPr lang="en-US" sz="2400">
                <a:solidFill>
                  <a:srgbClr val="133E3C"/>
                </a:solidFill>
                <a:latin typeface="Poppins"/>
                <a:cs typeface="Poppins"/>
              </a:rPr>
              <a:t>(นับหลังจากวันส่งดราฟท์แรก)</a:t>
            </a:r>
          </a:p>
          <a:p>
            <a:pPr algn="just">
              <a:lnSpc>
                <a:spcPts val="3336"/>
              </a:lnSpc>
            </a:pPr>
            <a:r>
              <a:rPr lang="en-US" sz="2400">
                <a:solidFill>
                  <a:srgbClr val="133E3C"/>
                </a:solidFill>
                <a:latin typeface="Poppins"/>
                <a:cs typeface="Poppins"/>
              </a:rPr>
              <a:t>- รับ Net เท่านั้น , รับในนามบุคคล</a:t>
            </a:r>
          </a:p>
          <a:p>
            <a:pPr algn="just">
              <a:lnSpc>
                <a:spcPts val="3336"/>
              </a:lnSpc>
            </a:pPr>
            <a:r>
              <a:rPr lang="en-US" sz="2400">
                <a:solidFill>
                  <a:srgbClr val="133E3C"/>
                </a:solidFill>
                <a:latin typeface="Poppins"/>
                <a:cs typeface="Poppins"/>
              </a:rPr>
              <a:t>- ถ้าคอนเฟิร์มงานแล้ว </a:t>
            </a:r>
          </a:p>
          <a:p>
            <a:pPr algn="just">
              <a:lnSpc>
                <a:spcPts val="3336"/>
              </a:lnSpc>
            </a:pPr>
            <a:r>
              <a:rPr lang="en-US" sz="2400">
                <a:solidFill>
                  <a:srgbClr val="133E3C"/>
                </a:solidFill>
                <a:latin typeface="Poppins"/>
                <a:cs typeface="Poppins"/>
              </a:rPr>
              <a:t>ชำระก่อนถ่าย 50%</a:t>
            </a:r>
          </a:p>
          <a:p>
            <a:pPr algn="just">
              <a:lnSpc>
                <a:spcPts val="3336"/>
              </a:lnSpc>
            </a:pPr>
            <a:r>
              <a:rPr lang="en-US" sz="2400">
                <a:solidFill>
                  <a:srgbClr val="133E3C"/>
                </a:solidFill>
                <a:latin typeface="Poppins"/>
                <a:cs typeface="Poppins"/>
              </a:rPr>
              <a:t>- อีก 50% ชำระก่อนโพสต์เท่านั้น</a:t>
            </a:r>
          </a:p>
          <a:p>
            <a:pPr algn="just">
              <a:lnSpc>
                <a:spcPts val="3336"/>
              </a:lnSpc>
            </a:pPr>
            <a:r>
              <a:rPr lang="en-US" sz="2400">
                <a:solidFill>
                  <a:srgbClr val="133E3C"/>
                </a:solidFill>
                <a:latin typeface="Poppins"/>
                <a:cs typeface="Poppins"/>
              </a:rPr>
              <a:t>-ถ้าต้องส่งไอเดียก่อนถ่าย </a:t>
            </a:r>
          </a:p>
          <a:p>
            <a:pPr algn="just">
              <a:lnSpc>
                <a:spcPts val="3336"/>
              </a:lnSpc>
            </a:pPr>
            <a:r>
              <a:rPr lang="en-US" sz="2400">
                <a:solidFill>
                  <a:srgbClr val="133E3C"/>
                </a:solidFill>
                <a:latin typeface="Poppins"/>
                <a:cs typeface="Poppins"/>
              </a:rPr>
              <a:t>จะส่งได้หลังจากรับบรีฟ 5 วัน </a:t>
            </a:r>
          </a:p>
          <a:p>
            <a:pPr algn="just">
              <a:lnSpc>
                <a:spcPts val="3336"/>
              </a:lnSpc>
            </a:pPr>
            <a:r>
              <a:rPr lang="en-US" sz="2400">
                <a:solidFill>
                  <a:srgbClr val="133E3C"/>
                </a:solidFill>
                <a:latin typeface="Poppins"/>
                <a:cs typeface="Poppins"/>
              </a:rPr>
              <a:t>- หลังจากถ่าย 5 วัน จะส่งงานให้ตรวจ </a:t>
            </a:r>
          </a:p>
          <a:p>
            <a:pPr algn="just">
              <a:lnSpc>
                <a:spcPts val="3336"/>
              </a:lnSpc>
            </a:pPr>
            <a:r>
              <a:rPr lang="en-US" sz="2400">
                <a:solidFill>
                  <a:srgbClr val="133E3C"/>
                </a:solidFill>
                <a:latin typeface="Poppins"/>
                <a:cs typeface="Poppins"/>
              </a:rPr>
              <a:t>และแก้ไขได้ ไม่เกิน 2 ครั้ง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93820" y="9351276"/>
            <a:ext cx="5612253" cy="127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3"/>
              </a:lnSpc>
            </a:pPr>
            <a:r>
              <a:rPr lang="en-US" sz="1815">
                <a:solidFill>
                  <a:srgbClr val="FF0000"/>
                </a:solidFill>
                <a:cs typeface="Poppins"/>
              </a:rPr>
              <a:t>ราคาที่แจ้งไม่รวมค่าสินค้า</a:t>
            </a:r>
            <a:r>
              <a:rPr lang="en-US" sz="1815">
                <a:solidFill>
                  <a:srgbClr val="FF0000"/>
                </a:solidFill>
                <a:latin typeface="Poppins"/>
                <a:cs typeface="Poppins"/>
              </a:rPr>
              <a:t>แต่รวมค่าเดินทางใน กทม.แล้ว</a:t>
            </a:r>
          </a:p>
          <a:p>
            <a:pPr algn="just">
              <a:lnSpc>
                <a:spcPts val="2523"/>
              </a:lnSpc>
            </a:pPr>
            <a:r>
              <a:rPr lang="en-US" sz="1815">
                <a:solidFill>
                  <a:srgbClr val="FF0000"/>
                </a:solidFill>
                <a:latin typeface="Poppins"/>
                <a:cs typeface="Poppins"/>
              </a:rPr>
              <a:t>(ถ้าเป็นปริมณฑล,ต่างจังหวัดดูระยะทางอีกครั้ง)</a:t>
            </a:r>
          </a:p>
          <a:p>
            <a:pPr algn="just">
              <a:lnSpc>
                <a:spcPts val="2523"/>
              </a:lnSpc>
            </a:pPr>
            <a:endParaRPr lang="en-US" sz="1815">
              <a:solidFill>
                <a:srgbClr val="FF0000"/>
              </a:solidFill>
              <a:latin typeface="Poppins"/>
              <a:cs typeface="Poppins"/>
            </a:endParaRPr>
          </a:p>
          <a:p>
            <a:pPr algn="just">
              <a:lnSpc>
                <a:spcPts val="2523"/>
              </a:lnSpc>
            </a:pPr>
            <a:endParaRPr lang="en-US" sz="1815">
              <a:solidFill>
                <a:srgbClr val="FF0000"/>
              </a:solidFill>
              <a:latin typeface="Poppins"/>
              <a:cs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347522" y="2331162"/>
            <a:ext cx="9926004" cy="37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8"/>
              </a:lnSpc>
            </a:pPr>
            <a:r>
              <a:rPr lang="en-US" sz="2848" dirty="0" err="1">
                <a:solidFill>
                  <a:srgbClr val="133E3C"/>
                </a:solidFill>
                <a:highlight>
                  <a:srgbClr val="FFFF00"/>
                </a:highlight>
                <a:latin typeface="Poppins"/>
                <a:cs typeface="Poppins"/>
              </a:rPr>
              <a:t>แก้วใบใหญ่</a:t>
            </a:r>
            <a:r>
              <a:rPr lang="en-US" sz="2848" dirty="0">
                <a:solidFill>
                  <a:srgbClr val="133E3C"/>
                </a:solidFill>
                <a:highlight>
                  <a:srgbClr val="FFFF00"/>
                </a:highlight>
                <a:latin typeface="Poppins"/>
                <a:cs typeface="Poppins"/>
              </a:rPr>
              <a:t> </a:t>
            </a:r>
            <a:r>
              <a:rPr lang="en-US" sz="2848" dirty="0" err="1">
                <a:solidFill>
                  <a:srgbClr val="133E3C"/>
                </a:solidFill>
                <a:highlight>
                  <a:srgbClr val="FFFF00"/>
                </a:highlight>
                <a:latin typeface="Poppins"/>
                <a:cs typeface="Poppins"/>
              </a:rPr>
              <a:t>ว่างลงคิว</a:t>
            </a:r>
            <a:r>
              <a:rPr lang="en-US" sz="2848" dirty="0">
                <a:solidFill>
                  <a:srgbClr val="133E3C"/>
                </a:solidFill>
                <a:highlight>
                  <a:srgbClr val="FFFF00"/>
                </a:highlight>
                <a:latin typeface="Poppins"/>
                <a:cs typeface="Poppins"/>
              </a:rPr>
              <a:t> 26-29 </a:t>
            </a:r>
            <a:r>
              <a:rPr lang="en-US" sz="2848" dirty="0" err="1">
                <a:solidFill>
                  <a:srgbClr val="133E3C"/>
                </a:solidFill>
                <a:highlight>
                  <a:srgbClr val="FFFF00"/>
                </a:highlight>
                <a:latin typeface="Poppins"/>
                <a:cs typeface="Poppins"/>
              </a:rPr>
              <a:t>มีนาคม</a:t>
            </a:r>
            <a:r>
              <a:rPr lang="en-US" sz="2848" dirty="0">
                <a:solidFill>
                  <a:srgbClr val="133E3C"/>
                </a:solidFill>
                <a:highlight>
                  <a:srgbClr val="FFFF00"/>
                </a:highlight>
                <a:latin typeface="Poppins"/>
                <a:cs typeface="Poppins"/>
              </a:rPr>
              <a:t> 2024 </a:t>
            </a:r>
            <a:r>
              <a:rPr lang="en-US" sz="2848" dirty="0" err="1">
                <a:solidFill>
                  <a:srgbClr val="133E3C"/>
                </a:solidFill>
                <a:highlight>
                  <a:srgbClr val="FFFF00"/>
                </a:highlight>
                <a:cs typeface="Poppins"/>
              </a:rPr>
              <a:t>อีกทีคือ</a:t>
            </a:r>
            <a:r>
              <a:rPr lang="en-US" sz="2848" dirty="0">
                <a:solidFill>
                  <a:srgbClr val="133E3C"/>
                </a:solidFill>
                <a:highlight>
                  <a:srgbClr val="FFFF00"/>
                </a:highlight>
                <a:cs typeface="Poppins"/>
              </a:rPr>
              <a:t> </a:t>
            </a:r>
            <a:r>
              <a:rPr lang="en-US" sz="2848" dirty="0" err="1">
                <a:solidFill>
                  <a:srgbClr val="133E3C"/>
                </a:solidFill>
                <a:highlight>
                  <a:srgbClr val="FFFF00"/>
                </a:highlight>
                <a:cs typeface="Poppins"/>
              </a:rPr>
              <a:t>หลังสงกรานต์</a:t>
            </a:r>
            <a:endParaRPr lang="en-US" sz="2848" dirty="0">
              <a:solidFill>
                <a:srgbClr val="133E3C"/>
              </a:solidFill>
              <a:highlight>
                <a:srgbClr val="FFFF00"/>
              </a:highlight>
              <a:cs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339905" y="804523"/>
            <a:ext cx="14107257" cy="1425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133E3C"/>
                </a:solidFill>
                <a:latin typeface="Poppins"/>
              </a:rPr>
              <a:t>INFLUENCER - Online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91242" y="2746178"/>
            <a:ext cx="2944562" cy="5826322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61" r="-61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5485604" y="4420731"/>
            <a:ext cx="8886820" cy="50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6"/>
              </a:lnSpc>
            </a:pPr>
            <a:r>
              <a:rPr lang="en-US" sz="3416" dirty="0" err="1">
                <a:solidFill>
                  <a:srgbClr val="133E3C"/>
                </a:solidFill>
                <a:latin typeface="Poppins"/>
                <a:cs typeface="Poppins"/>
              </a:rPr>
              <a:t>ฝิ่นสิริ</a:t>
            </a:r>
            <a:r>
              <a:rPr lang="en-US" sz="3416" dirty="0">
                <a:solidFill>
                  <a:srgbClr val="133E3C"/>
                </a:solidFill>
                <a:latin typeface="Poppins"/>
                <a:cs typeface="Poppins"/>
              </a:rPr>
              <a:t> </a:t>
            </a:r>
            <a:r>
              <a:rPr lang="en-US" sz="3416" dirty="0" err="1">
                <a:solidFill>
                  <a:srgbClr val="133E3C"/>
                </a:solidFill>
                <a:latin typeface="Poppins"/>
                <a:cs typeface="Poppins"/>
              </a:rPr>
              <a:t>ว่างลงให้เร็วสุด</a:t>
            </a:r>
            <a:r>
              <a:rPr lang="en-US" sz="3416" dirty="0">
                <a:solidFill>
                  <a:srgbClr val="133E3C"/>
                </a:solidFill>
                <a:latin typeface="Poppins"/>
                <a:cs typeface="Poppins"/>
              </a:rPr>
              <a:t> 20-22 </a:t>
            </a:r>
            <a:r>
              <a:rPr lang="en-US" sz="3416" dirty="0" err="1">
                <a:solidFill>
                  <a:srgbClr val="133E3C"/>
                </a:solidFill>
                <a:latin typeface="Poppins"/>
                <a:cs typeface="Poppins"/>
              </a:rPr>
              <a:t>มีนาคม</a:t>
            </a:r>
            <a:r>
              <a:rPr lang="en-US" sz="3416" dirty="0">
                <a:solidFill>
                  <a:srgbClr val="133E3C"/>
                </a:solidFill>
                <a:latin typeface="Poppins"/>
                <a:cs typeface="Poppins"/>
              </a:rPr>
              <a:t> 2024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34423" y="5337786"/>
            <a:ext cx="3419154" cy="57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2"/>
              </a:lnSpc>
              <a:spcBef>
                <a:spcPct val="0"/>
              </a:spcBef>
            </a:pPr>
            <a:r>
              <a:rPr lang="en-US" sz="3416">
                <a:solidFill>
                  <a:srgbClr val="133E3C"/>
                </a:solidFill>
                <a:latin typeface="DM Sans"/>
                <a:cs typeface="DM Sans"/>
              </a:rPr>
              <a:t>เรทรีวิว 8,000 บาท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310314" y="2458715"/>
            <a:ext cx="2944562" cy="5826322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3254876" y="2458715"/>
            <a:ext cx="2944562" cy="5826322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6199438" y="2458715"/>
            <a:ext cx="2944562" cy="5826322"/>
            <a:chOff x="0" y="0"/>
            <a:chExt cx="2620010" cy="5184140"/>
          </a:xfrm>
        </p:grpSpPr>
        <p:sp>
          <p:nvSpPr>
            <p:cNvPr id="23" name="Freeform 2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32" name="Group 32"/>
          <p:cNvGrpSpPr>
            <a:grpSpLocks noChangeAspect="1"/>
          </p:cNvGrpSpPr>
          <p:nvPr/>
        </p:nvGrpSpPr>
        <p:grpSpPr>
          <a:xfrm>
            <a:off x="9144000" y="2458715"/>
            <a:ext cx="2944562" cy="5826322"/>
            <a:chOff x="0" y="0"/>
            <a:chExt cx="2620010" cy="5184140"/>
          </a:xfrm>
        </p:grpSpPr>
        <p:sp>
          <p:nvSpPr>
            <p:cNvPr id="33" name="Freeform 3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42" name="Group 42"/>
          <p:cNvGrpSpPr>
            <a:grpSpLocks noChangeAspect="1"/>
          </p:cNvGrpSpPr>
          <p:nvPr/>
        </p:nvGrpSpPr>
        <p:grpSpPr>
          <a:xfrm>
            <a:off x="12088562" y="2458715"/>
            <a:ext cx="2944562" cy="5826322"/>
            <a:chOff x="0" y="0"/>
            <a:chExt cx="2620010" cy="5184140"/>
          </a:xfrm>
        </p:grpSpPr>
        <p:sp>
          <p:nvSpPr>
            <p:cNvPr id="43" name="Freeform 4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52" name="Group 52"/>
          <p:cNvGrpSpPr>
            <a:grpSpLocks noChangeAspect="1"/>
          </p:cNvGrpSpPr>
          <p:nvPr/>
        </p:nvGrpSpPr>
        <p:grpSpPr>
          <a:xfrm>
            <a:off x="15033124" y="2458715"/>
            <a:ext cx="2944562" cy="5826322"/>
            <a:chOff x="0" y="0"/>
            <a:chExt cx="2620010" cy="5184140"/>
          </a:xfrm>
        </p:grpSpPr>
        <p:sp>
          <p:nvSpPr>
            <p:cNvPr id="53" name="Freeform 5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60" name="Freeform 6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62" name="TextBox 62"/>
          <p:cNvSpPr txBox="1"/>
          <p:nvPr/>
        </p:nvSpPr>
        <p:spPr>
          <a:xfrm>
            <a:off x="-339905" y="804523"/>
            <a:ext cx="14107257" cy="1425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133E3C"/>
                </a:solidFill>
                <a:latin typeface="Poppins"/>
              </a:rPr>
              <a:t>INFLUENCER - Booth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-651410" y="8542212"/>
            <a:ext cx="486800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133E3C"/>
                </a:solidFill>
                <a:latin typeface="Poppins"/>
              </a:rPr>
              <a:t>0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293153" y="8542212"/>
            <a:ext cx="486800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133E3C"/>
                </a:solidFill>
                <a:latin typeface="Poppins"/>
              </a:rPr>
              <a:t>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237715" y="8542212"/>
            <a:ext cx="486800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133E3C"/>
                </a:solidFill>
                <a:latin typeface="Poppins"/>
              </a:rPr>
              <a:t>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182277" y="8542212"/>
            <a:ext cx="486800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133E3C"/>
                </a:solidFill>
                <a:latin typeface="Poppins"/>
              </a:rPr>
              <a:t>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126839" y="8542212"/>
            <a:ext cx="486800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133E3C"/>
                </a:solidFill>
                <a:latin typeface="Poppins"/>
              </a:rPr>
              <a:t>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4071401" y="8542212"/>
            <a:ext cx="486800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133E3C"/>
                </a:solidFill>
                <a:latin typeface="Poppins"/>
              </a:rPr>
              <a:t>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660</Words>
  <Application>Microsoft Office PowerPoint</Application>
  <PresentationFormat>Custom</PresentationFormat>
  <Paragraphs>309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Poppins Bold</vt:lpstr>
      <vt:lpstr>DM Sans Italics</vt:lpstr>
      <vt:lpstr>DM Sans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planinflu</dc:title>
  <dc:creator>Asus</dc:creator>
  <cp:lastModifiedBy>Asus</cp:lastModifiedBy>
  <cp:revision>6</cp:revision>
  <dcterms:created xsi:type="dcterms:W3CDTF">2006-08-16T00:00:00Z</dcterms:created>
  <dcterms:modified xsi:type="dcterms:W3CDTF">2024-03-06T10:28:40Z</dcterms:modified>
  <dc:identifier>DAF-n_TMkR8</dc:identifier>
</cp:coreProperties>
</file>